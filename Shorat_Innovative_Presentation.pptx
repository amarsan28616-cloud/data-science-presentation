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6" autoAdjust="0"/>
    <p:restoredTop sz="94660"/>
  </p:normalViewPr>
  <p:slideViewPr>
    <p:cSldViewPr snapToGrid="0">
      <p:cViewPr varScale="1">
        <p:scale>
          <a:sx n="60" d="100"/>
          <a:sy n="60" d="100"/>
        </p:scale>
        <p:origin x="1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0418FC-79EB-4148-A72D-ABDF60CD8055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2607F4-DFCF-4B7D-A782-520302EA94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757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Today, Data rules the world. This has resulted in a huge demand for Data Scientists.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Data Scientist helps companies with data-driven decisions, to make their business better.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607F4-DFCF-4B7D-A782-520302EA948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721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1FBB1-CCA9-6505-6BE7-294D2D457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62E011-C987-27F0-5C30-DE754788C8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65C22-FD5B-D525-730D-2F893471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0A58B-32D4-4095-B447-71B1046A9C6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12347-E220-6F9D-5134-33235ED8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F40F0-764E-514E-B6E0-230B06244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9440-A9A6-48D7-B248-4AE4DDC0F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285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3C4C1-BED3-137D-FE15-2DC352EDE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AE3CA-1B5E-127A-739F-D830FABCF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5D5B2-3B51-FCE8-2069-BA9026450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0A58B-32D4-4095-B447-71B1046A9C6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B48F8-F0FE-7DE2-5EF6-7A816612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A2C36-5A17-AF06-8E73-0F702097F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9440-A9A6-48D7-B248-4AE4DDC0F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380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B4730-CE73-E440-C433-771061FC9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C3279A-A733-69C7-CF05-75F7CC36C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1C8D4-D1D1-5EE1-D6A8-DE7485FE3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0A58B-32D4-4095-B447-71B1046A9C6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34483-3308-30F2-71CC-CC67F1062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6B4D2-965A-D98C-236F-516107E7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9440-A9A6-48D7-B248-4AE4DDC0F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603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B0A56-133B-3D62-4B1B-33975A3C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8154A-3B9A-334B-918A-27FDF2A7ED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4B6B53-A384-2ABF-3D1D-28951FFB85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2029E-BB94-86FD-A025-118C85A44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0A58B-32D4-4095-B447-71B1046A9C6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F82BA-7D6A-4373-4C4A-2344A14E3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7736B-1208-B73B-46A8-3494B63A5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9440-A9A6-48D7-B248-4AE4DDC0F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08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EB093-8B21-B184-4395-4B8D5E293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75224-2308-8E76-4292-98DFFA494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DD7F54-3647-A239-920A-C4920129C6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C01A05-89F2-6DC6-E028-DB5647DF83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B15791-07BB-C914-375A-480B1611E1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727A49-FCC7-9434-9020-92442CE2B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0A58B-32D4-4095-B447-71B1046A9C6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00C295-3881-C503-36B9-A089D3F06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022339-93DC-B4CC-6736-7BB4454D6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9440-A9A6-48D7-B248-4AE4DDC0F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320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2952D-343C-ECF1-F617-691110214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5F18ED-1685-9A59-12D3-36D7AEE81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0A58B-32D4-4095-B447-71B1046A9C6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FECA3-DD41-B14E-5F57-2B93C6BD3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9C3B8D-BCE3-DA89-144E-161B6B869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9440-A9A6-48D7-B248-4AE4DDC0F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164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B86BD5-4210-9786-ACBC-1E42757B5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0A58B-32D4-4095-B447-71B1046A9C6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B178C6-7D43-5739-7E5B-0087E52AB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4FCFE-F36A-FDA9-59AD-8D46395C7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9440-A9A6-48D7-B248-4AE4DDC0F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091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AB5B8-6290-ECDD-0EAA-7D5E67C3B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B6FDB-3560-0E2B-8570-65E646A5F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43CCB-E8D5-6857-13B5-129964307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176D6-49FC-DCBE-8E3B-92B9F2784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0A58B-32D4-4095-B447-71B1046A9C6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8384A-9287-7D2E-959B-3040EE05B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A0FBB-E850-56B8-99BE-29B59B51F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9440-A9A6-48D7-B248-4AE4DDC0F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987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E91F9-C3FC-2357-E90B-091C8CBDC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D57B8-9045-3BB0-9F7C-BF68910EFCA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11A85-9698-24E0-C57D-5109B20315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D9095-DD6E-70A9-B350-63509D03E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0A58B-32D4-4095-B447-71B1046A9C6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2BA3D8-55B6-E143-3020-50E72BEA0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5972E2-C1D6-A7C6-0E0B-C5D5F2335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9440-A9A6-48D7-B248-4AE4DDC0F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767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64086-306C-2B2D-6567-D7123D496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B79085-D78D-5544-556E-360B212696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13EC8-829B-67B1-BC73-60B3B99EA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0A58B-32D4-4095-B447-71B1046A9C6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5145D-0307-F26E-254B-0D3E24F6F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3D914-4638-7A05-8590-ECADD9C7B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9440-A9A6-48D7-B248-4AE4DDC0F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13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BB1589-B025-3234-C5A7-11FDB3C9B3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BB6C02-71FC-14D2-C68A-F2296B4D4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802D6-6629-1550-9E28-EFFFDC62A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0A58B-32D4-4095-B447-71B1046A9C6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CA821-9184-5230-D56F-9F15CCD2F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D4110-ACB2-68FD-76C2-9686CFEDF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9440-A9A6-48D7-B248-4AE4DDC0F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77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7DE738-E15F-0848-B821-E59C59672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4A433-F442-96BE-5F23-EF354820A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B5B5A-2DAB-E95F-1C01-11BA4BDB46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00A58B-32D4-4095-B447-71B1046A9C6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94FF2-D894-5550-370E-514D0F7AF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24ABC-3A25-9CFB-D542-894CEE3D45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BD9440-A9A6-48D7-B248-4AE4DDC0F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064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962C-DD78-58C9-1052-0AFAF9D7DE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3429000"/>
            <a:ext cx="5026617" cy="1073258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Science</a:t>
            </a:r>
            <a:endParaRPr lang="en-IN" sz="4400" b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AE30FF-8D3E-46D9-0F64-2DC898787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04855" y="4668206"/>
            <a:ext cx="5408909" cy="577973"/>
          </a:xfrm>
        </p:spPr>
        <p:txBody>
          <a:bodyPr/>
          <a:lstStyle/>
          <a:p>
            <a:r>
              <a:rPr lang="en-US" sz="18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Step into the world of data-driven decision-making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D46A76-F1F3-5C0A-E723-23CCD685E6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737" y="0"/>
            <a:ext cx="8101263" cy="20453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44F6C5-682A-97E5-0C97-3F5BB36ECD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090737" cy="685800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CBA15052-47C3-65A1-788F-8712DC6B35BF}"/>
              </a:ext>
            </a:extLst>
          </p:cNvPr>
          <p:cNvSpPr txBox="1">
            <a:spLocks/>
          </p:cNvSpPr>
          <p:nvPr/>
        </p:nvSpPr>
        <p:spPr>
          <a:xfrm>
            <a:off x="4090737" y="6168325"/>
            <a:ext cx="8101263" cy="68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Presented by</a:t>
            </a:r>
          </a:p>
          <a:p>
            <a:pPr algn="r"/>
            <a:r>
              <a:rPr lang="en-US" sz="1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Amarja S</a:t>
            </a:r>
          </a:p>
          <a:p>
            <a:pPr algn="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4123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E25F4-D5FB-6461-E45F-C0879F444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AB0ED13-4093-2449-7813-9F599D766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3286" y="2044240"/>
            <a:ext cx="4315326" cy="760953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List of contents</a:t>
            </a:r>
            <a:endParaRPr lang="en-IN" sz="4000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C700D0A1-9C8E-E571-8912-FFBCF8CD3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23286" y="2867188"/>
            <a:ext cx="4315326" cy="3896697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Data Overview</a:t>
            </a:r>
          </a:p>
          <a:p>
            <a:pPr marL="800100" lvl="1" indent="-34290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What is Data?</a:t>
            </a:r>
          </a:p>
          <a:p>
            <a:pPr marL="800100" lvl="1" indent="-34290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How Data is Used?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Data Science Overview</a:t>
            </a:r>
          </a:p>
          <a:p>
            <a:pPr marL="800100" lvl="1" indent="-34290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What is Data Science?</a:t>
            </a:r>
          </a:p>
          <a:p>
            <a:pPr marL="800100" lvl="1" indent="-34290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Where is Data Science needed?</a:t>
            </a:r>
          </a:p>
          <a:p>
            <a:pPr marL="800100" lvl="1" indent="-34290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How Does a Data Scientist Work?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BFBE0A6-2A80-C105-414F-4522A43059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254"/>
            <a:ext cx="12191998" cy="204311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95F7F9D-04A9-1734-E51D-D1539CB521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44240"/>
            <a:ext cx="5293895" cy="481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822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2D910-08BD-D636-4223-A6125A198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467FA3-5532-9F5A-3FB0-223C0425F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9642" y="113419"/>
            <a:ext cx="8518358" cy="10840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Data Overview</a:t>
            </a:r>
            <a:endParaRPr lang="en-IN" sz="4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CDDAE64-E795-8D8D-8686-A2F03EDE00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9642" y="1197429"/>
            <a:ext cx="7892716" cy="374653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en-US" dirty="0"/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 is the currency of digital transformation.</a:t>
            </a:r>
          </a:p>
          <a:p>
            <a:pPr algn="l">
              <a:lnSpc>
                <a:spcPct val="100000"/>
              </a:lnSpc>
            </a:pPr>
            <a:endParaRPr lang="en-US" dirty="0"/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Today, data rules the world. 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267E6AF-87D2-2F13-3354-F2595E9A7129}"/>
              </a:ext>
            </a:extLst>
          </p:cNvPr>
          <p:cNvGrpSpPr/>
          <p:nvPr/>
        </p:nvGrpSpPr>
        <p:grpSpPr>
          <a:xfrm>
            <a:off x="-12855" y="0"/>
            <a:ext cx="1713318" cy="6858000"/>
            <a:chOff x="-12855" y="0"/>
            <a:chExt cx="1713318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D47081C-E0C4-7FEC-42E6-F165DC4D0828}"/>
                </a:ext>
              </a:extLst>
            </p:cNvPr>
            <p:cNvSpPr/>
            <p:nvPr/>
          </p:nvSpPr>
          <p:spPr>
            <a:xfrm>
              <a:off x="0" y="0"/>
              <a:ext cx="1700463" cy="6858000"/>
            </a:xfrm>
            <a:prstGeom prst="rect">
              <a:avLst/>
            </a:prstGeom>
            <a:solidFill>
              <a:schemeClr val="accent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F81B104-0612-56DF-A430-0E3A7D39A6E1}"/>
                </a:ext>
              </a:extLst>
            </p:cNvPr>
            <p:cNvSpPr txBox="1"/>
            <p:nvPr/>
          </p:nvSpPr>
          <p:spPr>
            <a:xfrm>
              <a:off x="-12855" y="143795"/>
              <a:ext cx="13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Data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972EA73-566B-4C07-A5EF-2CB9BE1D11A6}"/>
                </a:ext>
              </a:extLst>
            </p:cNvPr>
            <p:cNvSpPr txBox="1"/>
            <p:nvPr/>
          </p:nvSpPr>
          <p:spPr>
            <a:xfrm>
              <a:off x="0" y="2928240"/>
              <a:ext cx="142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Information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F0FB50-961C-BD12-CF9F-909D64F62CEB}"/>
                </a:ext>
              </a:extLst>
            </p:cNvPr>
            <p:cNvSpPr txBox="1"/>
            <p:nvPr/>
          </p:nvSpPr>
          <p:spPr>
            <a:xfrm>
              <a:off x="96000" y="5856480"/>
              <a:ext cx="142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Knowledge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8" name="Lightning Bolt 27">
              <a:extLst>
                <a:ext uri="{FF2B5EF4-FFF2-40B4-BE49-F238E27FC236}">
                  <a16:creationId xmlns:a16="http://schemas.microsoft.com/office/drawing/2014/main" id="{E403F1B3-76FA-8FB3-595D-EFA6D0372EB3}"/>
                </a:ext>
              </a:extLst>
            </p:cNvPr>
            <p:cNvSpPr/>
            <p:nvPr/>
          </p:nvSpPr>
          <p:spPr>
            <a:xfrm>
              <a:off x="204855" y="601287"/>
              <a:ext cx="818399" cy="2183158"/>
            </a:xfrm>
            <a:prstGeom prst="lightningBol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Lightning Bolt 29">
              <a:extLst>
                <a:ext uri="{FF2B5EF4-FFF2-40B4-BE49-F238E27FC236}">
                  <a16:creationId xmlns:a16="http://schemas.microsoft.com/office/drawing/2014/main" id="{D7F1EB05-213C-D60F-8ED7-03EE1E6AB49A}"/>
                </a:ext>
              </a:extLst>
            </p:cNvPr>
            <p:cNvSpPr/>
            <p:nvPr/>
          </p:nvSpPr>
          <p:spPr>
            <a:xfrm>
              <a:off x="320141" y="3379122"/>
              <a:ext cx="703113" cy="2333563"/>
            </a:xfrm>
            <a:prstGeom prst="lightningBol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7592921-5A0C-8A83-7DC5-B425BBCE37CB}"/>
              </a:ext>
            </a:extLst>
          </p:cNvPr>
          <p:cNvGrpSpPr/>
          <p:nvPr/>
        </p:nvGrpSpPr>
        <p:grpSpPr>
          <a:xfrm>
            <a:off x="10491537" y="0"/>
            <a:ext cx="1713318" cy="6858000"/>
            <a:chOff x="10491537" y="0"/>
            <a:chExt cx="1713318" cy="6858000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6DF352C-2749-DD92-B446-7E4AF02800C8}"/>
                </a:ext>
              </a:extLst>
            </p:cNvPr>
            <p:cNvSpPr/>
            <p:nvPr/>
          </p:nvSpPr>
          <p:spPr>
            <a:xfrm>
              <a:off x="10504392" y="0"/>
              <a:ext cx="1700463" cy="6858000"/>
            </a:xfrm>
            <a:prstGeom prst="rect">
              <a:avLst/>
            </a:prstGeom>
            <a:solidFill>
              <a:schemeClr val="accent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5591DA2-DD34-72A0-840D-7A9B99737CCA}"/>
                </a:ext>
              </a:extLst>
            </p:cNvPr>
            <p:cNvSpPr txBox="1"/>
            <p:nvPr/>
          </p:nvSpPr>
          <p:spPr>
            <a:xfrm>
              <a:off x="10491537" y="143795"/>
              <a:ext cx="13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Data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BE42723-D53A-193A-48DE-560365719368}"/>
                </a:ext>
              </a:extLst>
            </p:cNvPr>
            <p:cNvSpPr txBox="1"/>
            <p:nvPr/>
          </p:nvSpPr>
          <p:spPr>
            <a:xfrm>
              <a:off x="10640623" y="3928761"/>
              <a:ext cx="142800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raw facts and information before we turn them into meaningful information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67" name="Arrow: Curved Down 66">
              <a:extLst>
                <a:ext uri="{FF2B5EF4-FFF2-40B4-BE49-F238E27FC236}">
                  <a16:creationId xmlns:a16="http://schemas.microsoft.com/office/drawing/2014/main" id="{A08E4A49-DC14-10E7-4A44-ED1AC151CFC9}"/>
                </a:ext>
              </a:extLst>
            </p:cNvPr>
            <p:cNvSpPr/>
            <p:nvPr/>
          </p:nvSpPr>
          <p:spPr>
            <a:xfrm>
              <a:off x="10842171" y="1197429"/>
              <a:ext cx="981366" cy="2100143"/>
            </a:xfrm>
            <a:prstGeom prst="curvedDownArrow">
              <a:avLst>
                <a:gd name="adj1" fmla="val 25000"/>
                <a:gd name="adj2" fmla="val 50000"/>
                <a:gd name="adj3" fmla="val 73986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9014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AF38F-96D3-29E2-28B5-764DEB47A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0B209E-0437-6E22-EDDD-A2C7A746C1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9642" y="113419"/>
            <a:ext cx="8518358" cy="10840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What is Data?</a:t>
            </a:r>
            <a:endParaRPr lang="en-IN" sz="4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867C647-42E7-06C3-8CEB-9B72AA517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9642" y="1197429"/>
            <a:ext cx="8518358" cy="2830285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 is a collection of information gathered through 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      observations, measurements, research, or analysis.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It includes facts, figures, numbers, names and general description.</a:t>
            </a:r>
            <a:endParaRPr lang="en-IN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50E1F4C-7499-2602-3223-67AFB6CFD3A4}"/>
              </a:ext>
            </a:extLst>
          </p:cNvPr>
          <p:cNvGrpSpPr/>
          <p:nvPr/>
        </p:nvGrpSpPr>
        <p:grpSpPr>
          <a:xfrm>
            <a:off x="-12855" y="0"/>
            <a:ext cx="1713318" cy="6858000"/>
            <a:chOff x="-12855" y="0"/>
            <a:chExt cx="1713318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5D55B0A-8C18-64D4-700E-871F457BBFF7}"/>
                </a:ext>
              </a:extLst>
            </p:cNvPr>
            <p:cNvSpPr/>
            <p:nvPr/>
          </p:nvSpPr>
          <p:spPr>
            <a:xfrm>
              <a:off x="0" y="0"/>
              <a:ext cx="1700463" cy="6858000"/>
            </a:xfrm>
            <a:prstGeom prst="rect">
              <a:avLst/>
            </a:prstGeom>
            <a:solidFill>
              <a:schemeClr val="accent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9ADEB88-374A-EDAE-E671-EBD6E6DD2A1E}"/>
                </a:ext>
              </a:extLst>
            </p:cNvPr>
            <p:cNvSpPr txBox="1"/>
            <p:nvPr/>
          </p:nvSpPr>
          <p:spPr>
            <a:xfrm>
              <a:off x="-12855" y="143795"/>
              <a:ext cx="13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Data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30CE7F3-6BE2-D27A-E4B3-835CE7B8BD9D}"/>
                </a:ext>
              </a:extLst>
            </p:cNvPr>
            <p:cNvSpPr txBox="1"/>
            <p:nvPr/>
          </p:nvSpPr>
          <p:spPr>
            <a:xfrm>
              <a:off x="0" y="2928240"/>
              <a:ext cx="142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Information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56AB7D7-B9B8-F4D2-46D7-364FC16456F5}"/>
                </a:ext>
              </a:extLst>
            </p:cNvPr>
            <p:cNvSpPr txBox="1"/>
            <p:nvPr/>
          </p:nvSpPr>
          <p:spPr>
            <a:xfrm>
              <a:off x="96000" y="5856480"/>
              <a:ext cx="142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Knowledge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8" name="Lightning Bolt 27">
              <a:extLst>
                <a:ext uri="{FF2B5EF4-FFF2-40B4-BE49-F238E27FC236}">
                  <a16:creationId xmlns:a16="http://schemas.microsoft.com/office/drawing/2014/main" id="{FABC462F-70A2-FA71-2B99-D310F1CE877A}"/>
                </a:ext>
              </a:extLst>
            </p:cNvPr>
            <p:cNvSpPr/>
            <p:nvPr/>
          </p:nvSpPr>
          <p:spPr>
            <a:xfrm>
              <a:off x="204855" y="601287"/>
              <a:ext cx="818399" cy="2183158"/>
            </a:xfrm>
            <a:prstGeom prst="lightningBol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Lightning Bolt 29">
              <a:extLst>
                <a:ext uri="{FF2B5EF4-FFF2-40B4-BE49-F238E27FC236}">
                  <a16:creationId xmlns:a16="http://schemas.microsoft.com/office/drawing/2014/main" id="{AC590426-5AE5-6B16-A148-7B7FEA44953F}"/>
                </a:ext>
              </a:extLst>
            </p:cNvPr>
            <p:cNvSpPr/>
            <p:nvPr/>
          </p:nvSpPr>
          <p:spPr>
            <a:xfrm>
              <a:off x="320141" y="3379122"/>
              <a:ext cx="703113" cy="2333563"/>
            </a:xfrm>
            <a:prstGeom prst="lightningBol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89CB9C64-E5A5-2127-8A06-C75F0E3E9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71" y="4511564"/>
            <a:ext cx="6966858" cy="1932779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10892F75-DE4C-E936-0D20-4178E1D8C45E}"/>
              </a:ext>
            </a:extLst>
          </p:cNvPr>
          <p:cNvSpPr txBox="1"/>
          <p:nvPr/>
        </p:nvSpPr>
        <p:spPr>
          <a:xfrm>
            <a:off x="10491537" y="143795"/>
            <a:ext cx="13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Data</a:t>
            </a:r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0E13900-1CD2-BBF3-94CE-0DF92FE82326}"/>
              </a:ext>
            </a:extLst>
          </p:cNvPr>
          <p:cNvGrpSpPr/>
          <p:nvPr/>
        </p:nvGrpSpPr>
        <p:grpSpPr>
          <a:xfrm>
            <a:off x="10491537" y="0"/>
            <a:ext cx="1713318" cy="6858000"/>
            <a:chOff x="10491537" y="0"/>
            <a:chExt cx="1713318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8ED7EB-A505-56C9-FEF1-FA65D3965886}"/>
                </a:ext>
              </a:extLst>
            </p:cNvPr>
            <p:cNvSpPr/>
            <p:nvPr/>
          </p:nvSpPr>
          <p:spPr>
            <a:xfrm>
              <a:off x="10504392" y="0"/>
              <a:ext cx="1700463" cy="6858000"/>
            </a:xfrm>
            <a:prstGeom prst="rect">
              <a:avLst/>
            </a:prstGeom>
            <a:solidFill>
              <a:schemeClr val="accent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51C3F5A-1498-0D9D-4CD0-C14F5F40ECD2}"/>
                </a:ext>
              </a:extLst>
            </p:cNvPr>
            <p:cNvSpPr txBox="1"/>
            <p:nvPr/>
          </p:nvSpPr>
          <p:spPr>
            <a:xfrm>
              <a:off x="10491537" y="143795"/>
              <a:ext cx="13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Data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12D0739-7173-2B85-F0FB-9B114CF6C38E}"/>
                </a:ext>
              </a:extLst>
            </p:cNvPr>
            <p:cNvSpPr txBox="1"/>
            <p:nvPr/>
          </p:nvSpPr>
          <p:spPr>
            <a:xfrm>
              <a:off x="10640623" y="3928761"/>
              <a:ext cx="142800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raw facts and information before we turn them into meaningful information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8" name="Arrow: Curved Down 7">
              <a:extLst>
                <a:ext uri="{FF2B5EF4-FFF2-40B4-BE49-F238E27FC236}">
                  <a16:creationId xmlns:a16="http://schemas.microsoft.com/office/drawing/2014/main" id="{0B91AFA7-6F16-272C-8ED2-9D65E2158FBA}"/>
                </a:ext>
              </a:extLst>
            </p:cNvPr>
            <p:cNvSpPr/>
            <p:nvPr/>
          </p:nvSpPr>
          <p:spPr>
            <a:xfrm>
              <a:off x="10842171" y="1197429"/>
              <a:ext cx="981366" cy="2100143"/>
            </a:xfrm>
            <a:prstGeom prst="curvedDownArrow">
              <a:avLst>
                <a:gd name="adj1" fmla="val 25000"/>
                <a:gd name="adj2" fmla="val 50000"/>
                <a:gd name="adj3" fmla="val 73986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8812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507A2-72A7-AB8E-9091-8F5102044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3759E4-F7FB-7316-83EA-ECD3127D94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9642" y="113419"/>
            <a:ext cx="8518358" cy="10840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How Data is Used?</a:t>
            </a:r>
            <a:endParaRPr lang="en-IN" sz="4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D34D75E-AD43-05D2-4543-ED8D5236D2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9642" y="1197429"/>
            <a:ext cx="7905571" cy="5225142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In the modern digital world, data is collected, stored and analyzed by individuals, organizations, and algorithms to:</a:t>
            </a:r>
          </a:p>
          <a:p>
            <a:pPr marL="800100" lvl="1" indent="-34290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Identify trends and make business decisions.</a:t>
            </a:r>
          </a:p>
          <a:p>
            <a:pPr marL="800100" lvl="1" indent="-34290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Train artificial intelligence and machine learning models.</a:t>
            </a:r>
          </a:p>
          <a:p>
            <a:pPr marL="800100" lvl="1" indent="-34290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Automate repetitive processes and scientific research.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C464A4D-CDF8-DFB4-283D-28E4FDE52161}"/>
              </a:ext>
            </a:extLst>
          </p:cNvPr>
          <p:cNvGrpSpPr/>
          <p:nvPr/>
        </p:nvGrpSpPr>
        <p:grpSpPr>
          <a:xfrm>
            <a:off x="-12855" y="0"/>
            <a:ext cx="1713318" cy="6858000"/>
            <a:chOff x="-12855" y="0"/>
            <a:chExt cx="1713318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A455F3B-1835-A1A7-35D2-1B90661604F5}"/>
                </a:ext>
              </a:extLst>
            </p:cNvPr>
            <p:cNvSpPr/>
            <p:nvPr/>
          </p:nvSpPr>
          <p:spPr>
            <a:xfrm>
              <a:off x="0" y="0"/>
              <a:ext cx="1700463" cy="6858000"/>
            </a:xfrm>
            <a:prstGeom prst="rect">
              <a:avLst/>
            </a:prstGeom>
            <a:solidFill>
              <a:schemeClr val="accent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AA37684-584A-4E16-4DB0-BF7A90CD7B97}"/>
                </a:ext>
              </a:extLst>
            </p:cNvPr>
            <p:cNvSpPr txBox="1"/>
            <p:nvPr/>
          </p:nvSpPr>
          <p:spPr>
            <a:xfrm>
              <a:off x="-12855" y="143795"/>
              <a:ext cx="13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Data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1C2F9A2-A370-E76F-C093-CE8734479419}"/>
                </a:ext>
              </a:extLst>
            </p:cNvPr>
            <p:cNvSpPr txBox="1"/>
            <p:nvPr/>
          </p:nvSpPr>
          <p:spPr>
            <a:xfrm>
              <a:off x="0" y="2928240"/>
              <a:ext cx="142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Information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7D25D43-7D63-39F7-A14F-344942DB098B}"/>
                </a:ext>
              </a:extLst>
            </p:cNvPr>
            <p:cNvSpPr txBox="1"/>
            <p:nvPr/>
          </p:nvSpPr>
          <p:spPr>
            <a:xfrm>
              <a:off x="96000" y="5856480"/>
              <a:ext cx="142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Knowledge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8" name="Lightning Bolt 27">
              <a:extLst>
                <a:ext uri="{FF2B5EF4-FFF2-40B4-BE49-F238E27FC236}">
                  <a16:creationId xmlns:a16="http://schemas.microsoft.com/office/drawing/2014/main" id="{F3152228-1792-93F5-7E1F-028318032F49}"/>
                </a:ext>
              </a:extLst>
            </p:cNvPr>
            <p:cNvSpPr/>
            <p:nvPr/>
          </p:nvSpPr>
          <p:spPr>
            <a:xfrm>
              <a:off x="204855" y="601287"/>
              <a:ext cx="818399" cy="2183158"/>
            </a:xfrm>
            <a:prstGeom prst="lightningBol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Lightning Bolt 29">
              <a:extLst>
                <a:ext uri="{FF2B5EF4-FFF2-40B4-BE49-F238E27FC236}">
                  <a16:creationId xmlns:a16="http://schemas.microsoft.com/office/drawing/2014/main" id="{A6D50A91-80C1-C06A-5CBC-FE1A4E53FF1D}"/>
                </a:ext>
              </a:extLst>
            </p:cNvPr>
            <p:cNvSpPr/>
            <p:nvPr/>
          </p:nvSpPr>
          <p:spPr>
            <a:xfrm>
              <a:off x="320141" y="3379122"/>
              <a:ext cx="703113" cy="2333563"/>
            </a:xfrm>
            <a:prstGeom prst="lightningBol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B9B7C5D-6CF2-3D05-17DB-3E47CA0EC9EC}"/>
              </a:ext>
            </a:extLst>
          </p:cNvPr>
          <p:cNvGrpSpPr/>
          <p:nvPr/>
        </p:nvGrpSpPr>
        <p:grpSpPr>
          <a:xfrm>
            <a:off x="10491537" y="0"/>
            <a:ext cx="1713318" cy="6858000"/>
            <a:chOff x="10491537" y="0"/>
            <a:chExt cx="1713318" cy="685800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3CD6567-21D2-F0D7-0651-EB31BD64D4C4}"/>
                </a:ext>
              </a:extLst>
            </p:cNvPr>
            <p:cNvSpPr/>
            <p:nvPr/>
          </p:nvSpPr>
          <p:spPr>
            <a:xfrm>
              <a:off x="10504392" y="0"/>
              <a:ext cx="1700463" cy="6858000"/>
            </a:xfrm>
            <a:prstGeom prst="rect">
              <a:avLst/>
            </a:prstGeom>
            <a:solidFill>
              <a:schemeClr val="accent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62C34CA-AAA2-74C1-4BF6-7545ABA7E401}"/>
                </a:ext>
              </a:extLst>
            </p:cNvPr>
            <p:cNvSpPr txBox="1"/>
            <p:nvPr/>
          </p:nvSpPr>
          <p:spPr>
            <a:xfrm>
              <a:off x="10491537" y="143795"/>
              <a:ext cx="13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Data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A69064E-7E7A-C318-8E1F-751D7199ADEE}"/>
                </a:ext>
              </a:extLst>
            </p:cNvPr>
            <p:cNvSpPr txBox="1"/>
            <p:nvPr/>
          </p:nvSpPr>
          <p:spPr>
            <a:xfrm>
              <a:off x="10640623" y="3928761"/>
              <a:ext cx="142800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raw facts and information before we turn them into meaningful information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5" name="Arrow: Curved Down 14">
              <a:extLst>
                <a:ext uri="{FF2B5EF4-FFF2-40B4-BE49-F238E27FC236}">
                  <a16:creationId xmlns:a16="http://schemas.microsoft.com/office/drawing/2014/main" id="{C91EF015-0950-BDD1-894A-952253B5B6AC}"/>
                </a:ext>
              </a:extLst>
            </p:cNvPr>
            <p:cNvSpPr/>
            <p:nvPr/>
          </p:nvSpPr>
          <p:spPr>
            <a:xfrm>
              <a:off x="10842171" y="1197429"/>
              <a:ext cx="981366" cy="2100143"/>
            </a:xfrm>
            <a:prstGeom prst="curvedDownArrow">
              <a:avLst>
                <a:gd name="adj1" fmla="val 25000"/>
                <a:gd name="adj2" fmla="val 50000"/>
                <a:gd name="adj3" fmla="val 73986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1036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291E8-1B51-C3EB-BA02-3028F0F69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43400FA-589B-7DE3-898C-5040F10D0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9642" y="113419"/>
            <a:ext cx="8518358" cy="10840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Data Science Overview</a:t>
            </a:r>
            <a:endParaRPr lang="en-IN" sz="4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D4C726A-ECED-8A0A-66C0-320F0C0966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9642" y="1197429"/>
            <a:ext cx="7905571" cy="5225142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342900" indent="-3429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 science is a combination of multiple disciplines that uses statistics, data analysis, and machine learning to analyze data and to extract knowledge and insights from it.</a:t>
            </a:r>
            <a:endParaRPr lang="en-IN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3BD6742-4A1C-9E89-980F-8C7556C2A413}"/>
              </a:ext>
            </a:extLst>
          </p:cNvPr>
          <p:cNvGrpSpPr/>
          <p:nvPr/>
        </p:nvGrpSpPr>
        <p:grpSpPr>
          <a:xfrm>
            <a:off x="0" y="0"/>
            <a:ext cx="1700463" cy="6858000"/>
            <a:chOff x="0" y="0"/>
            <a:chExt cx="1700463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8D28131-397E-6B05-DF6D-6D2908C5F034}"/>
                </a:ext>
              </a:extLst>
            </p:cNvPr>
            <p:cNvSpPr/>
            <p:nvPr/>
          </p:nvSpPr>
          <p:spPr>
            <a:xfrm>
              <a:off x="0" y="0"/>
              <a:ext cx="1700463" cy="6858000"/>
            </a:xfrm>
            <a:prstGeom prst="rect">
              <a:avLst/>
            </a:prstGeom>
            <a:solidFill>
              <a:schemeClr val="accent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A099215-5B65-5976-1874-25EA357C2DB5}"/>
                </a:ext>
              </a:extLst>
            </p:cNvPr>
            <p:cNvSpPr txBox="1"/>
            <p:nvPr/>
          </p:nvSpPr>
          <p:spPr>
            <a:xfrm>
              <a:off x="18141" y="143795"/>
              <a:ext cx="13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Data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F47AF78-325E-8144-DD76-ACA56A074ED7}"/>
                </a:ext>
              </a:extLst>
            </p:cNvPr>
            <p:cNvSpPr txBox="1"/>
            <p:nvPr/>
          </p:nvSpPr>
          <p:spPr>
            <a:xfrm>
              <a:off x="30996" y="2044831"/>
              <a:ext cx="142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Information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7B9C1D1-EFBE-A77D-D3C5-0F22E1D0BC39}"/>
                </a:ext>
              </a:extLst>
            </p:cNvPr>
            <p:cNvSpPr txBox="1"/>
            <p:nvPr/>
          </p:nvSpPr>
          <p:spPr>
            <a:xfrm>
              <a:off x="65004" y="6212940"/>
              <a:ext cx="142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Decision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8" name="Lightning Bolt 27">
              <a:extLst>
                <a:ext uri="{FF2B5EF4-FFF2-40B4-BE49-F238E27FC236}">
                  <a16:creationId xmlns:a16="http://schemas.microsoft.com/office/drawing/2014/main" id="{686A71B1-748E-8275-21FE-E445A38D64D9}"/>
                </a:ext>
              </a:extLst>
            </p:cNvPr>
            <p:cNvSpPr/>
            <p:nvPr/>
          </p:nvSpPr>
          <p:spPr>
            <a:xfrm>
              <a:off x="204855" y="740769"/>
              <a:ext cx="818399" cy="1289506"/>
            </a:xfrm>
            <a:prstGeom prst="lightningBol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E976155A-D57E-4F9C-0C4E-77D237B7BC8A}"/>
              </a:ext>
            </a:extLst>
          </p:cNvPr>
          <p:cNvSpPr txBox="1"/>
          <p:nvPr/>
        </p:nvSpPr>
        <p:spPr>
          <a:xfrm>
            <a:off x="10491537" y="143795"/>
            <a:ext cx="13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Data</a:t>
            </a:r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Lightning Bolt 3">
            <a:extLst>
              <a:ext uri="{FF2B5EF4-FFF2-40B4-BE49-F238E27FC236}">
                <a16:creationId xmlns:a16="http://schemas.microsoft.com/office/drawing/2014/main" id="{264B1F6D-F091-C801-56FE-5DD177B679D8}"/>
              </a:ext>
            </a:extLst>
          </p:cNvPr>
          <p:cNvSpPr/>
          <p:nvPr/>
        </p:nvSpPr>
        <p:spPr>
          <a:xfrm>
            <a:off x="304800" y="2583699"/>
            <a:ext cx="818399" cy="1289506"/>
          </a:xfrm>
          <a:prstGeom prst="lightningBol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44F9D-35A8-AD2C-3EA2-3D5AFC18AC0A}"/>
              </a:ext>
            </a:extLst>
          </p:cNvPr>
          <p:cNvSpPr txBox="1"/>
          <p:nvPr/>
        </p:nvSpPr>
        <p:spPr>
          <a:xfrm>
            <a:off x="-5167" y="4051458"/>
            <a:ext cx="14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Insight</a:t>
            </a:r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Lightning Bolt 8">
            <a:extLst>
              <a:ext uri="{FF2B5EF4-FFF2-40B4-BE49-F238E27FC236}">
                <a16:creationId xmlns:a16="http://schemas.microsoft.com/office/drawing/2014/main" id="{87A82FB1-CAD7-E403-2512-3F0579E9B96F}"/>
              </a:ext>
            </a:extLst>
          </p:cNvPr>
          <p:cNvSpPr/>
          <p:nvPr/>
        </p:nvSpPr>
        <p:spPr>
          <a:xfrm>
            <a:off x="305166" y="4779126"/>
            <a:ext cx="818399" cy="1289506"/>
          </a:xfrm>
          <a:prstGeom prst="lightningBol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1D9F69D-6001-70BE-BA2C-8D8AEEAD3713}"/>
              </a:ext>
            </a:extLst>
          </p:cNvPr>
          <p:cNvGrpSpPr/>
          <p:nvPr/>
        </p:nvGrpSpPr>
        <p:grpSpPr>
          <a:xfrm>
            <a:off x="10488895" y="-15498"/>
            <a:ext cx="1715960" cy="6858000"/>
            <a:chOff x="-15498" y="-15498"/>
            <a:chExt cx="171596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929D7B7-FF60-35D0-BE8E-67D05ABB03EC}"/>
                </a:ext>
              </a:extLst>
            </p:cNvPr>
            <p:cNvSpPr/>
            <p:nvPr/>
          </p:nvSpPr>
          <p:spPr>
            <a:xfrm>
              <a:off x="-15498" y="-15498"/>
              <a:ext cx="1700463" cy="6858000"/>
            </a:xfrm>
            <a:prstGeom prst="rect">
              <a:avLst/>
            </a:prstGeom>
            <a:solidFill>
              <a:schemeClr val="accent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A3CC85E-E5EA-FFA0-31BE-DA6512E7FCB7}"/>
                </a:ext>
              </a:extLst>
            </p:cNvPr>
            <p:cNvSpPr txBox="1"/>
            <p:nvPr/>
          </p:nvSpPr>
          <p:spPr>
            <a:xfrm>
              <a:off x="-12856" y="143795"/>
              <a:ext cx="16951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Statistics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8AB2BCF-D64C-5CC9-F587-BE21F3A3F41A}"/>
                </a:ext>
              </a:extLst>
            </p:cNvPr>
            <p:cNvSpPr txBox="1"/>
            <p:nvPr/>
          </p:nvSpPr>
          <p:spPr>
            <a:xfrm>
              <a:off x="0" y="2928240"/>
              <a:ext cx="1700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Data Analysis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377FDDB-F394-0084-9325-323170D2597A}"/>
                </a:ext>
              </a:extLst>
            </p:cNvPr>
            <p:cNvSpPr txBox="1"/>
            <p:nvPr/>
          </p:nvSpPr>
          <p:spPr>
            <a:xfrm>
              <a:off x="96000" y="5856480"/>
              <a:ext cx="1428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Machine Learning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25" name="Plus Sign 24">
            <a:extLst>
              <a:ext uri="{FF2B5EF4-FFF2-40B4-BE49-F238E27FC236}">
                <a16:creationId xmlns:a16="http://schemas.microsoft.com/office/drawing/2014/main" id="{F0CD8F9A-E125-3258-C6CE-B9CE728032A9}"/>
              </a:ext>
            </a:extLst>
          </p:cNvPr>
          <p:cNvSpPr/>
          <p:nvPr/>
        </p:nvSpPr>
        <p:spPr>
          <a:xfrm>
            <a:off x="10957303" y="1146881"/>
            <a:ext cx="788744" cy="1471399"/>
          </a:xfrm>
          <a:prstGeom prst="mathPlus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Plus Sign 26">
            <a:extLst>
              <a:ext uri="{FF2B5EF4-FFF2-40B4-BE49-F238E27FC236}">
                <a16:creationId xmlns:a16="http://schemas.microsoft.com/office/drawing/2014/main" id="{07883F5E-C922-0239-9395-156F4CB3497E}"/>
              </a:ext>
            </a:extLst>
          </p:cNvPr>
          <p:cNvSpPr/>
          <p:nvPr/>
        </p:nvSpPr>
        <p:spPr>
          <a:xfrm>
            <a:off x="11013991" y="3952480"/>
            <a:ext cx="788744" cy="1471399"/>
          </a:xfrm>
          <a:prstGeom prst="mathPlus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240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B3798-A474-557F-CC59-6A79CB132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1C1213-779C-0FCA-C624-35449D57D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9642" y="113419"/>
            <a:ext cx="8518358" cy="10840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What is Data Science?</a:t>
            </a:r>
            <a:endParaRPr lang="en-IN" sz="4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5DCB287-7B15-5FAE-021B-592F67ABDF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9642" y="1357136"/>
            <a:ext cx="7905571" cy="5225142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 science is about data gathering, analysis, and decision-making.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 Science is about finding patterns in data, through analysis, and make future predictions.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By using Data Science, companies are able to make: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Better decisions (should we choose A or B)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Predictive analysis (what will happen next?)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Pattern discoveries (find pattern, or maybe hidden information in the data)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991A8E4-A704-E508-511F-EC5AC7E53A48}"/>
              </a:ext>
            </a:extLst>
          </p:cNvPr>
          <p:cNvGrpSpPr/>
          <p:nvPr/>
        </p:nvGrpSpPr>
        <p:grpSpPr>
          <a:xfrm>
            <a:off x="0" y="0"/>
            <a:ext cx="1700463" cy="6858000"/>
            <a:chOff x="0" y="0"/>
            <a:chExt cx="1700463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1ADC003-BA02-9308-7EF1-90A40CF36FC5}"/>
                </a:ext>
              </a:extLst>
            </p:cNvPr>
            <p:cNvSpPr/>
            <p:nvPr/>
          </p:nvSpPr>
          <p:spPr>
            <a:xfrm>
              <a:off x="0" y="0"/>
              <a:ext cx="1700463" cy="6858000"/>
            </a:xfrm>
            <a:prstGeom prst="rect">
              <a:avLst/>
            </a:prstGeom>
            <a:solidFill>
              <a:schemeClr val="accent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06BECA8-7E9B-AC16-0631-ACF945BFC2A4}"/>
                </a:ext>
              </a:extLst>
            </p:cNvPr>
            <p:cNvSpPr txBox="1"/>
            <p:nvPr/>
          </p:nvSpPr>
          <p:spPr>
            <a:xfrm>
              <a:off x="18141" y="143795"/>
              <a:ext cx="13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Data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443938D-F3CE-A442-44EA-EEEEAFE218F0}"/>
                </a:ext>
              </a:extLst>
            </p:cNvPr>
            <p:cNvSpPr txBox="1"/>
            <p:nvPr/>
          </p:nvSpPr>
          <p:spPr>
            <a:xfrm>
              <a:off x="30996" y="2044831"/>
              <a:ext cx="142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Information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2A77AC3-7DAD-E047-5763-E81F1ED55423}"/>
                </a:ext>
              </a:extLst>
            </p:cNvPr>
            <p:cNvSpPr txBox="1"/>
            <p:nvPr/>
          </p:nvSpPr>
          <p:spPr>
            <a:xfrm>
              <a:off x="65004" y="6212940"/>
              <a:ext cx="142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Decision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8" name="Lightning Bolt 27">
              <a:extLst>
                <a:ext uri="{FF2B5EF4-FFF2-40B4-BE49-F238E27FC236}">
                  <a16:creationId xmlns:a16="http://schemas.microsoft.com/office/drawing/2014/main" id="{49959F24-B108-4B23-2861-CDC0CE628621}"/>
                </a:ext>
              </a:extLst>
            </p:cNvPr>
            <p:cNvSpPr/>
            <p:nvPr/>
          </p:nvSpPr>
          <p:spPr>
            <a:xfrm>
              <a:off x="204855" y="740769"/>
              <a:ext cx="818399" cy="1289506"/>
            </a:xfrm>
            <a:prstGeom prst="lightningBol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7BDEC053-6B20-7FB3-9135-DAB786C87026}"/>
              </a:ext>
            </a:extLst>
          </p:cNvPr>
          <p:cNvSpPr txBox="1"/>
          <p:nvPr/>
        </p:nvSpPr>
        <p:spPr>
          <a:xfrm>
            <a:off x="10491537" y="143795"/>
            <a:ext cx="13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Data</a:t>
            </a:r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Lightning Bolt 3">
            <a:extLst>
              <a:ext uri="{FF2B5EF4-FFF2-40B4-BE49-F238E27FC236}">
                <a16:creationId xmlns:a16="http://schemas.microsoft.com/office/drawing/2014/main" id="{2142C61F-CEFF-2D21-2187-2C829915E4FD}"/>
              </a:ext>
            </a:extLst>
          </p:cNvPr>
          <p:cNvSpPr/>
          <p:nvPr/>
        </p:nvSpPr>
        <p:spPr>
          <a:xfrm>
            <a:off x="304800" y="2583699"/>
            <a:ext cx="818399" cy="1289506"/>
          </a:xfrm>
          <a:prstGeom prst="lightningBol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7EDBC6-588D-F0E8-9C3F-E529374E5E55}"/>
              </a:ext>
            </a:extLst>
          </p:cNvPr>
          <p:cNvSpPr txBox="1"/>
          <p:nvPr/>
        </p:nvSpPr>
        <p:spPr>
          <a:xfrm>
            <a:off x="-5167" y="4051458"/>
            <a:ext cx="14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Insight</a:t>
            </a:r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Lightning Bolt 8">
            <a:extLst>
              <a:ext uri="{FF2B5EF4-FFF2-40B4-BE49-F238E27FC236}">
                <a16:creationId xmlns:a16="http://schemas.microsoft.com/office/drawing/2014/main" id="{C80D1928-A7A1-A4FC-CB39-A2A85F743987}"/>
              </a:ext>
            </a:extLst>
          </p:cNvPr>
          <p:cNvSpPr/>
          <p:nvPr/>
        </p:nvSpPr>
        <p:spPr>
          <a:xfrm>
            <a:off x="305166" y="4779126"/>
            <a:ext cx="818399" cy="1289506"/>
          </a:xfrm>
          <a:prstGeom prst="lightningBol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62FC7E9-23E1-13DA-8045-845DD959FC96}"/>
              </a:ext>
            </a:extLst>
          </p:cNvPr>
          <p:cNvGrpSpPr/>
          <p:nvPr/>
        </p:nvGrpSpPr>
        <p:grpSpPr>
          <a:xfrm>
            <a:off x="10488895" y="-15498"/>
            <a:ext cx="1715960" cy="6858000"/>
            <a:chOff x="-15498" y="-15498"/>
            <a:chExt cx="171596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94C9066-B6A7-3ED3-B46C-8866526A3610}"/>
                </a:ext>
              </a:extLst>
            </p:cNvPr>
            <p:cNvSpPr/>
            <p:nvPr/>
          </p:nvSpPr>
          <p:spPr>
            <a:xfrm>
              <a:off x="-15498" y="-15498"/>
              <a:ext cx="1700463" cy="6858000"/>
            </a:xfrm>
            <a:prstGeom prst="rect">
              <a:avLst/>
            </a:prstGeom>
            <a:solidFill>
              <a:schemeClr val="accent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CE06C8A-DC0C-D747-9F65-3375F368A9F7}"/>
                </a:ext>
              </a:extLst>
            </p:cNvPr>
            <p:cNvSpPr txBox="1"/>
            <p:nvPr/>
          </p:nvSpPr>
          <p:spPr>
            <a:xfrm>
              <a:off x="-12856" y="143795"/>
              <a:ext cx="16951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Statistics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C81CC4D-D0DD-009C-FFF1-8D9B4621AA46}"/>
                </a:ext>
              </a:extLst>
            </p:cNvPr>
            <p:cNvSpPr txBox="1"/>
            <p:nvPr/>
          </p:nvSpPr>
          <p:spPr>
            <a:xfrm>
              <a:off x="0" y="2928240"/>
              <a:ext cx="1700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Data Analysis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E2E29DD-7DA9-9924-5E8F-AA47941B0440}"/>
                </a:ext>
              </a:extLst>
            </p:cNvPr>
            <p:cNvSpPr txBox="1"/>
            <p:nvPr/>
          </p:nvSpPr>
          <p:spPr>
            <a:xfrm>
              <a:off x="96000" y="5856480"/>
              <a:ext cx="1428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Machine Learning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25" name="Plus Sign 24">
            <a:extLst>
              <a:ext uri="{FF2B5EF4-FFF2-40B4-BE49-F238E27FC236}">
                <a16:creationId xmlns:a16="http://schemas.microsoft.com/office/drawing/2014/main" id="{DAE88665-0226-F5C2-E24F-6BDECB2F3233}"/>
              </a:ext>
            </a:extLst>
          </p:cNvPr>
          <p:cNvSpPr/>
          <p:nvPr/>
        </p:nvSpPr>
        <p:spPr>
          <a:xfrm>
            <a:off x="10957303" y="1146881"/>
            <a:ext cx="788744" cy="1471399"/>
          </a:xfrm>
          <a:prstGeom prst="mathPlus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Plus Sign 26">
            <a:extLst>
              <a:ext uri="{FF2B5EF4-FFF2-40B4-BE49-F238E27FC236}">
                <a16:creationId xmlns:a16="http://schemas.microsoft.com/office/drawing/2014/main" id="{D5698B39-03C4-5605-6508-080B75FBE0F1}"/>
              </a:ext>
            </a:extLst>
          </p:cNvPr>
          <p:cNvSpPr/>
          <p:nvPr/>
        </p:nvSpPr>
        <p:spPr>
          <a:xfrm>
            <a:off x="11013991" y="3952480"/>
            <a:ext cx="788744" cy="1471399"/>
          </a:xfrm>
          <a:prstGeom prst="mathPlus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288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5283B-68D2-45B9-E202-A60ED33B1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828427-7D53-F065-5BC8-35E1F2189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9642" y="113419"/>
            <a:ext cx="8518358" cy="10840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Where is Data Science needed?</a:t>
            </a:r>
            <a:endParaRPr lang="en-IN" sz="4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70923B9-0DED-4384-7C3C-FEB55F846C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9642" y="1357136"/>
            <a:ext cx="7905571" cy="5225142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 science is used in many industries in the world today, for example: banking, consultancy, healthcare, and manufacturing.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Examples: </a:t>
            </a: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IN" dirty="0"/>
              <a:t>For route planning: To discover the best routes to ship</a:t>
            </a: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IN" dirty="0"/>
              <a:t>To foresee delays for flight/ship/train etc. (through predictive analysis)</a:t>
            </a: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IN" dirty="0"/>
              <a:t>To create promotional offers</a:t>
            </a: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IN" dirty="0"/>
              <a:t>To find the best suited time to deliver goods</a:t>
            </a: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IN" dirty="0"/>
              <a:t>To forecast the next years revenue for a company</a:t>
            </a: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IN" dirty="0"/>
              <a:t>To analyze health benefit of training</a:t>
            </a: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IN" dirty="0"/>
              <a:t>To predict who will win elections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09BDE84-635A-8032-0C93-D753E67E47D0}"/>
              </a:ext>
            </a:extLst>
          </p:cNvPr>
          <p:cNvGrpSpPr/>
          <p:nvPr/>
        </p:nvGrpSpPr>
        <p:grpSpPr>
          <a:xfrm>
            <a:off x="0" y="0"/>
            <a:ext cx="1700463" cy="6858000"/>
            <a:chOff x="0" y="0"/>
            <a:chExt cx="1700463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60D62D6-494B-06D9-E7F7-1DBA1E9C8540}"/>
                </a:ext>
              </a:extLst>
            </p:cNvPr>
            <p:cNvSpPr/>
            <p:nvPr/>
          </p:nvSpPr>
          <p:spPr>
            <a:xfrm>
              <a:off x="0" y="0"/>
              <a:ext cx="1700463" cy="6858000"/>
            </a:xfrm>
            <a:prstGeom prst="rect">
              <a:avLst/>
            </a:prstGeom>
            <a:solidFill>
              <a:schemeClr val="accent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5461DB6-AF1F-64CC-4EEB-AA166D63B829}"/>
                </a:ext>
              </a:extLst>
            </p:cNvPr>
            <p:cNvSpPr txBox="1"/>
            <p:nvPr/>
          </p:nvSpPr>
          <p:spPr>
            <a:xfrm>
              <a:off x="18141" y="143795"/>
              <a:ext cx="13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Data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131B0B2-ED8D-F925-1A92-4F9B53EAEB7B}"/>
                </a:ext>
              </a:extLst>
            </p:cNvPr>
            <p:cNvSpPr txBox="1"/>
            <p:nvPr/>
          </p:nvSpPr>
          <p:spPr>
            <a:xfrm>
              <a:off x="30996" y="2044831"/>
              <a:ext cx="142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Information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861E6CF-8760-DF9F-B817-FBDF0C60E9CD}"/>
                </a:ext>
              </a:extLst>
            </p:cNvPr>
            <p:cNvSpPr txBox="1"/>
            <p:nvPr/>
          </p:nvSpPr>
          <p:spPr>
            <a:xfrm>
              <a:off x="65004" y="6212940"/>
              <a:ext cx="142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Decision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8" name="Lightning Bolt 27">
              <a:extLst>
                <a:ext uri="{FF2B5EF4-FFF2-40B4-BE49-F238E27FC236}">
                  <a16:creationId xmlns:a16="http://schemas.microsoft.com/office/drawing/2014/main" id="{AE8002D1-B91D-AA57-816B-79D316886EDA}"/>
                </a:ext>
              </a:extLst>
            </p:cNvPr>
            <p:cNvSpPr/>
            <p:nvPr/>
          </p:nvSpPr>
          <p:spPr>
            <a:xfrm>
              <a:off x="204855" y="740769"/>
              <a:ext cx="818399" cy="1289506"/>
            </a:xfrm>
            <a:prstGeom prst="lightningBol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7A7E8794-5B08-A493-9D7B-0A926226D804}"/>
              </a:ext>
            </a:extLst>
          </p:cNvPr>
          <p:cNvSpPr txBox="1"/>
          <p:nvPr/>
        </p:nvSpPr>
        <p:spPr>
          <a:xfrm>
            <a:off x="10491537" y="143795"/>
            <a:ext cx="13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Data</a:t>
            </a:r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Lightning Bolt 3">
            <a:extLst>
              <a:ext uri="{FF2B5EF4-FFF2-40B4-BE49-F238E27FC236}">
                <a16:creationId xmlns:a16="http://schemas.microsoft.com/office/drawing/2014/main" id="{AD08122A-1194-4D8A-7C6D-59DFD2CD04F1}"/>
              </a:ext>
            </a:extLst>
          </p:cNvPr>
          <p:cNvSpPr/>
          <p:nvPr/>
        </p:nvSpPr>
        <p:spPr>
          <a:xfrm>
            <a:off x="304800" y="2583699"/>
            <a:ext cx="818399" cy="1289506"/>
          </a:xfrm>
          <a:prstGeom prst="lightningBol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6DC134-88B4-EC8C-D727-42C49E45E950}"/>
              </a:ext>
            </a:extLst>
          </p:cNvPr>
          <p:cNvSpPr txBox="1"/>
          <p:nvPr/>
        </p:nvSpPr>
        <p:spPr>
          <a:xfrm>
            <a:off x="-5167" y="4051458"/>
            <a:ext cx="14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Insight</a:t>
            </a:r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Lightning Bolt 8">
            <a:extLst>
              <a:ext uri="{FF2B5EF4-FFF2-40B4-BE49-F238E27FC236}">
                <a16:creationId xmlns:a16="http://schemas.microsoft.com/office/drawing/2014/main" id="{27A9C523-CE00-390C-5575-616678E2F119}"/>
              </a:ext>
            </a:extLst>
          </p:cNvPr>
          <p:cNvSpPr/>
          <p:nvPr/>
        </p:nvSpPr>
        <p:spPr>
          <a:xfrm>
            <a:off x="305166" y="4779126"/>
            <a:ext cx="818399" cy="1289506"/>
          </a:xfrm>
          <a:prstGeom prst="lightningBol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D27B6F-7F10-67A4-93EE-EDBEE7C743F0}"/>
              </a:ext>
            </a:extLst>
          </p:cNvPr>
          <p:cNvGrpSpPr/>
          <p:nvPr/>
        </p:nvGrpSpPr>
        <p:grpSpPr>
          <a:xfrm>
            <a:off x="10488895" y="-15498"/>
            <a:ext cx="1715960" cy="6858000"/>
            <a:chOff x="-15498" y="-15498"/>
            <a:chExt cx="171596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5065D9A-B249-CEC7-D93D-313E8EDCC4C7}"/>
                </a:ext>
              </a:extLst>
            </p:cNvPr>
            <p:cNvSpPr/>
            <p:nvPr/>
          </p:nvSpPr>
          <p:spPr>
            <a:xfrm>
              <a:off x="-15498" y="-15498"/>
              <a:ext cx="1700463" cy="6858000"/>
            </a:xfrm>
            <a:prstGeom prst="rect">
              <a:avLst/>
            </a:prstGeom>
            <a:solidFill>
              <a:schemeClr val="accent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1FE029B-FB72-11B0-CB02-4BBB71DE0C37}"/>
                </a:ext>
              </a:extLst>
            </p:cNvPr>
            <p:cNvSpPr txBox="1"/>
            <p:nvPr/>
          </p:nvSpPr>
          <p:spPr>
            <a:xfrm>
              <a:off x="-12856" y="143795"/>
              <a:ext cx="16951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Statistics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F330612-10DE-71B6-6EAB-458C0C10513C}"/>
                </a:ext>
              </a:extLst>
            </p:cNvPr>
            <p:cNvSpPr txBox="1"/>
            <p:nvPr/>
          </p:nvSpPr>
          <p:spPr>
            <a:xfrm>
              <a:off x="0" y="2928240"/>
              <a:ext cx="1700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Data Analysis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8B86BE0-0C18-ED0F-1E44-07DDEE78657F}"/>
                </a:ext>
              </a:extLst>
            </p:cNvPr>
            <p:cNvSpPr txBox="1"/>
            <p:nvPr/>
          </p:nvSpPr>
          <p:spPr>
            <a:xfrm>
              <a:off x="96000" y="5856480"/>
              <a:ext cx="1428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Machine Learning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25" name="Plus Sign 24">
            <a:extLst>
              <a:ext uri="{FF2B5EF4-FFF2-40B4-BE49-F238E27FC236}">
                <a16:creationId xmlns:a16="http://schemas.microsoft.com/office/drawing/2014/main" id="{13707496-6C3A-B0CF-6018-2FF68219F893}"/>
              </a:ext>
            </a:extLst>
          </p:cNvPr>
          <p:cNvSpPr/>
          <p:nvPr/>
        </p:nvSpPr>
        <p:spPr>
          <a:xfrm>
            <a:off x="10957303" y="1146881"/>
            <a:ext cx="788744" cy="1471399"/>
          </a:xfrm>
          <a:prstGeom prst="mathPlus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Plus Sign 26">
            <a:extLst>
              <a:ext uri="{FF2B5EF4-FFF2-40B4-BE49-F238E27FC236}">
                <a16:creationId xmlns:a16="http://schemas.microsoft.com/office/drawing/2014/main" id="{A15D4579-560C-7D48-277B-2635D39D1F95}"/>
              </a:ext>
            </a:extLst>
          </p:cNvPr>
          <p:cNvSpPr/>
          <p:nvPr/>
        </p:nvSpPr>
        <p:spPr>
          <a:xfrm>
            <a:off x="11013991" y="3952480"/>
            <a:ext cx="788744" cy="1471399"/>
          </a:xfrm>
          <a:prstGeom prst="mathPlus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35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A9053-F502-5F62-4A06-687A9DE1C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6789A8-DD89-93D7-9779-4BE052F55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9642" y="113419"/>
            <a:ext cx="8518358" cy="10840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Where is Data Science needed?</a:t>
            </a:r>
            <a:endParaRPr lang="en-IN" sz="4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93EB26F-EB21-4997-F7AC-E14DC219C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9642" y="1357136"/>
            <a:ext cx="7905571" cy="5225142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 Science can be applied in nearly every part of a business where data is available.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Examples are: 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Consumer goods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Stock markets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Industry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Politics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Logistic companies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E-commerce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EC247D6-191B-C851-2724-B11B288975A9}"/>
              </a:ext>
            </a:extLst>
          </p:cNvPr>
          <p:cNvGrpSpPr/>
          <p:nvPr/>
        </p:nvGrpSpPr>
        <p:grpSpPr>
          <a:xfrm>
            <a:off x="0" y="0"/>
            <a:ext cx="1700463" cy="6858000"/>
            <a:chOff x="0" y="0"/>
            <a:chExt cx="1700463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CE7F126-A976-DF87-201D-66CA07479134}"/>
                </a:ext>
              </a:extLst>
            </p:cNvPr>
            <p:cNvSpPr/>
            <p:nvPr/>
          </p:nvSpPr>
          <p:spPr>
            <a:xfrm>
              <a:off x="0" y="0"/>
              <a:ext cx="1700463" cy="6858000"/>
            </a:xfrm>
            <a:prstGeom prst="rect">
              <a:avLst/>
            </a:prstGeom>
            <a:solidFill>
              <a:schemeClr val="accent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94232D0-23C9-3DA1-1AC7-348A6CA055DD}"/>
                </a:ext>
              </a:extLst>
            </p:cNvPr>
            <p:cNvSpPr txBox="1"/>
            <p:nvPr/>
          </p:nvSpPr>
          <p:spPr>
            <a:xfrm>
              <a:off x="18141" y="143795"/>
              <a:ext cx="13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Data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43D8CA-8926-0B5C-6DC0-0621A502470C}"/>
                </a:ext>
              </a:extLst>
            </p:cNvPr>
            <p:cNvSpPr txBox="1"/>
            <p:nvPr/>
          </p:nvSpPr>
          <p:spPr>
            <a:xfrm>
              <a:off x="30996" y="2044831"/>
              <a:ext cx="142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Information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2920893-A7FD-67B9-25D3-5D262DDEB0A0}"/>
                </a:ext>
              </a:extLst>
            </p:cNvPr>
            <p:cNvSpPr txBox="1"/>
            <p:nvPr/>
          </p:nvSpPr>
          <p:spPr>
            <a:xfrm>
              <a:off x="65004" y="6212940"/>
              <a:ext cx="142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Decision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8" name="Lightning Bolt 27">
              <a:extLst>
                <a:ext uri="{FF2B5EF4-FFF2-40B4-BE49-F238E27FC236}">
                  <a16:creationId xmlns:a16="http://schemas.microsoft.com/office/drawing/2014/main" id="{4D21F66D-97F6-84F2-8238-AF1C39FE9A89}"/>
                </a:ext>
              </a:extLst>
            </p:cNvPr>
            <p:cNvSpPr/>
            <p:nvPr/>
          </p:nvSpPr>
          <p:spPr>
            <a:xfrm>
              <a:off x="204855" y="740769"/>
              <a:ext cx="818399" cy="1289506"/>
            </a:xfrm>
            <a:prstGeom prst="lightningBol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4EE07EAF-ED86-58D7-DD14-AFB2F064BAB4}"/>
              </a:ext>
            </a:extLst>
          </p:cNvPr>
          <p:cNvSpPr txBox="1"/>
          <p:nvPr/>
        </p:nvSpPr>
        <p:spPr>
          <a:xfrm>
            <a:off x="10491537" y="143795"/>
            <a:ext cx="13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Data</a:t>
            </a:r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Lightning Bolt 3">
            <a:extLst>
              <a:ext uri="{FF2B5EF4-FFF2-40B4-BE49-F238E27FC236}">
                <a16:creationId xmlns:a16="http://schemas.microsoft.com/office/drawing/2014/main" id="{508E49B4-991C-8BC6-4890-89BE83677418}"/>
              </a:ext>
            </a:extLst>
          </p:cNvPr>
          <p:cNvSpPr/>
          <p:nvPr/>
        </p:nvSpPr>
        <p:spPr>
          <a:xfrm>
            <a:off x="304800" y="2583699"/>
            <a:ext cx="818399" cy="1289506"/>
          </a:xfrm>
          <a:prstGeom prst="lightningBol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392C6B-EBD5-8EB7-35EA-B0D929AB7178}"/>
              </a:ext>
            </a:extLst>
          </p:cNvPr>
          <p:cNvSpPr txBox="1"/>
          <p:nvPr/>
        </p:nvSpPr>
        <p:spPr>
          <a:xfrm>
            <a:off x="-5167" y="4051458"/>
            <a:ext cx="14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Insight</a:t>
            </a:r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Lightning Bolt 8">
            <a:extLst>
              <a:ext uri="{FF2B5EF4-FFF2-40B4-BE49-F238E27FC236}">
                <a16:creationId xmlns:a16="http://schemas.microsoft.com/office/drawing/2014/main" id="{30BF5B38-D477-6D4C-0DA1-4DFB7972CEEF}"/>
              </a:ext>
            </a:extLst>
          </p:cNvPr>
          <p:cNvSpPr/>
          <p:nvPr/>
        </p:nvSpPr>
        <p:spPr>
          <a:xfrm>
            <a:off x="305166" y="4779126"/>
            <a:ext cx="818399" cy="1289506"/>
          </a:xfrm>
          <a:prstGeom prst="lightningBol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BC9B712-E27A-58E4-50A8-EA0E4AB2E4AF}"/>
              </a:ext>
            </a:extLst>
          </p:cNvPr>
          <p:cNvGrpSpPr/>
          <p:nvPr/>
        </p:nvGrpSpPr>
        <p:grpSpPr>
          <a:xfrm>
            <a:off x="10488895" y="-15498"/>
            <a:ext cx="1715960" cy="6858000"/>
            <a:chOff x="-15498" y="-15498"/>
            <a:chExt cx="171596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30EFA13-E40B-C190-144B-D064FF7DE1AC}"/>
                </a:ext>
              </a:extLst>
            </p:cNvPr>
            <p:cNvSpPr/>
            <p:nvPr/>
          </p:nvSpPr>
          <p:spPr>
            <a:xfrm>
              <a:off x="-15498" y="-15498"/>
              <a:ext cx="1700463" cy="6858000"/>
            </a:xfrm>
            <a:prstGeom prst="rect">
              <a:avLst/>
            </a:prstGeom>
            <a:solidFill>
              <a:schemeClr val="accent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3B05A45-86F7-98FC-2106-C77F2178A3D8}"/>
                </a:ext>
              </a:extLst>
            </p:cNvPr>
            <p:cNvSpPr txBox="1"/>
            <p:nvPr/>
          </p:nvSpPr>
          <p:spPr>
            <a:xfrm>
              <a:off x="-12856" y="143795"/>
              <a:ext cx="16951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Statistics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209DF25-C889-8FBA-1B91-D8C655135421}"/>
                </a:ext>
              </a:extLst>
            </p:cNvPr>
            <p:cNvSpPr txBox="1"/>
            <p:nvPr/>
          </p:nvSpPr>
          <p:spPr>
            <a:xfrm>
              <a:off x="0" y="2928240"/>
              <a:ext cx="1700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Data Analysis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952184A-2321-3C6A-1CA0-3B8B6922F424}"/>
                </a:ext>
              </a:extLst>
            </p:cNvPr>
            <p:cNvSpPr txBox="1"/>
            <p:nvPr/>
          </p:nvSpPr>
          <p:spPr>
            <a:xfrm>
              <a:off x="96000" y="5856480"/>
              <a:ext cx="1428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Machine Learning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25" name="Plus Sign 24">
            <a:extLst>
              <a:ext uri="{FF2B5EF4-FFF2-40B4-BE49-F238E27FC236}">
                <a16:creationId xmlns:a16="http://schemas.microsoft.com/office/drawing/2014/main" id="{4E83DBD9-5018-8F4A-46CD-79B89FE7D2DF}"/>
              </a:ext>
            </a:extLst>
          </p:cNvPr>
          <p:cNvSpPr/>
          <p:nvPr/>
        </p:nvSpPr>
        <p:spPr>
          <a:xfrm>
            <a:off x="10957303" y="1146881"/>
            <a:ext cx="788744" cy="1471399"/>
          </a:xfrm>
          <a:prstGeom prst="mathPlus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Plus Sign 26">
            <a:extLst>
              <a:ext uri="{FF2B5EF4-FFF2-40B4-BE49-F238E27FC236}">
                <a16:creationId xmlns:a16="http://schemas.microsoft.com/office/drawing/2014/main" id="{29FC9C1B-9D4B-4F9B-CE0E-0E83277BDFE0}"/>
              </a:ext>
            </a:extLst>
          </p:cNvPr>
          <p:cNvSpPr/>
          <p:nvPr/>
        </p:nvSpPr>
        <p:spPr>
          <a:xfrm>
            <a:off x="11013991" y="3952480"/>
            <a:ext cx="788744" cy="1471399"/>
          </a:xfrm>
          <a:prstGeom prst="mathPlus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117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FEBD9-A644-03E4-830F-E4A74CEE0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0217C2-AA75-5324-D878-0108A357E5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9642" y="113419"/>
            <a:ext cx="8518358" cy="10840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How Does a Data Scientist Work?</a:t>
            </a:r>
            <a:endParaRPr lang="en-IN" sz="4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C42EA38-5051-4FBE-41DE-E67DB8E450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9642" y="1357136"/>
            <a:ext cx="7905571" cy="5225142"/>
          </a:xfrm>
        </p:spPr>
        <p:txBody>
          <a:bodyPr>
            <a:normAutofit fontScale="92500"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 Data Scientist requires expertise in several backgrounds: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Machine Learning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Statistics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Programming (Python or R)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Mathematics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Databases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 Data Scientist must find patterns within the data. Before he/she can find the patterns, he/she must organize the data in a standard format.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99169BC-38BF-BFD1-2366-63C64669C3D8}"/>
              </a:ext>
            </a:extLst>
          </p:cNvPr>
          <p:cNvGrpSpPr/>
          <p:nvPr/>
        </p:nvGrpSpPr>
        <p:grpSpPr>
          <a:xfrm>
            <a:off x="0" y="0"/>
            <a:ext cx="1700463" cy="6858000"/>
            <a:chOff x="0" y="0"/>
            <a:chExt cx="1700463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8672CEC-283B-DE39-A16D-3F7A2B757EF3}"/>
                </a:ext>
              </a:extLst>
            </p:cNvPr>
            <p:cNvSpPr/>
            <p:nvPr/>
          </p:nvSpPr>
          <p:spPr>
            <a:xfrm>
              <a:off x="0" y="0"/>
              <a:ext cx="1700463" cy="6858000"/>
            </a:xfrm>
            <a:prstGeom prst="rect">
              <a:avLst/>
            </a:prstGeom>
            <a:solidFill>
              <a:schemeClr val="accent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5EFA815-9F9D-7743-7D39-F3F3AE02A4E7}"/>
                </a:ext>
              </a:extLst>
            </p:cNvPr>
            <p:cNvSpPr txBox="1"/>
            <p:nvPr/>
          </p:nvSpPr>
          <p:spPr>
            <a:xfrm>
              <a:off x="18141" y="143795"/>
              <a:ext cx="13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Data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7EEF2F3-1BDE-0EB4-FDB6-EB5E95B13483}"/>
                </a:ext>
              </a:extLst>
            </p:cNvPr>
            <p:cNvSpPr txBox="1"/>
            <p:nvPr/>
          </p:nvSpPr>
          <p:spPr>
            <a:xfrm>
              <a:off x="30996" y="2044831"/>
              <a:ext cx="142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Information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4689C5A-3AC1-78A6-B5BA-9D2B29AE1CD9}"/>
                </a:ext>
              </a:extLst>
            </p:cNvPr>
            <p:cNvSpPr txBox="1"/>
            <p:nvPr/>
          </p:nvSpPr>
          <p:spPr>
            <a:xfrm>
              <a:off x="65004" y="6212940"/>
              <a:ext cx="142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Decision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8" name="Lightning Bolt 27">
              <a:extLst>
                <a:ext uri="{FF2B5EF4-FFF2-40B4-BE49-F238E27FC236}">
                  <a16:creationId xmlns:a16="http://schemas.microsoft.com/office/drawing/2014/main" id="{76203568-3EC9-40C3-9F6F-360042C865FB}"/>
                </a:ext>
              </a:extLst>
            </p:cNvPr>
            <p:cNvSpPr/>
            <p:nvPr/>
          </p:nvSpPr>
          <p:spPr>
            <a:xfrm>
              <a:off x="204855" y="740769"/>
              <a:ext cx="818399" cy="1289506"/>
            </a:xfrm>
            <a:prstGeom prst="lightningBol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3A200E24-81BE-8804-FA25-005E549296A7}"/>
              </a:ext>
            </a:extLst>
          </p:cNvPr>
          <p:cNvSpPr txBox="1"/>
          <p:nvPr/>
        </p:nvSpPr>
        <p:spPr>
          <a:xfrm>
            <a:off x="10491537" y="143795"/>
            <a:ext cx="13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Data</a:t>
            </a:r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Lightning Bolt 3">
            <a:extLst>
              <a:ext uri="{FF2B5EF4-FFF2-40B4-BE49-F238E27FC236}">
                <a16:creationId xmlns:a16="http://schemas.microsoft.com/office/drawing/2014/main" id="{7A611200-1962-5A47-3F2B-6D25B495F5C2}"/>
              </a:ext>
            </a:extLst>
          </p:cNvPr>
          <p:cNvSpPr/>
          <p:nvPr/>
        </p:nvSpPr>
        <p:spPr>
          <a:xfrm>
            <a:off x="304800" y="2583699"/>
            <a:ext cx="818399" cy="1289506"/>
          </a:xfrm>
          <a:prstGeom prst="lightningBol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DF8D69-F80F-0D40-ACD7-F61DF1E7F6EE}"/>
              </a:ext>
            </a:extLst>
          </p:cNvPr>
          <p:cNvSpPr txBox="1"/>
          <p:nvPr/>
        </p:nvSpPr>
        <p:spPr>
          <a:xfrm>
            <a:off x="-5167" y="4051458"/>
            <a:ext cx="14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Insight</a:t>
            </a:r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Lightning Bolt 8">
            <a:extLst>
              <a:ext uri="{FF2B5EF4-FFF2-40B4-BE49-F238E27FC236}">
                <a16:creationId xmlns:a16="http://schemas.microsoft.com/office/drawing/2014/main" id="{6421A802-0154-3B05-09F3-221D58E51877}"/>
              </a:ext>
            </a:extLst>
          </p:cNvPr>
          <p:cNvSpPr/>
          <p:nvPr/>
        </p:nvSpPr>
        <p:spPr>
          <a:xfrm>
            <a:off x="305166" y="4779126"/>
            <a:ext cx="818399" cy="1289506"/>
          </a:xfrm>
          <a:prstGeom prst="lightningBol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474D88-4DE8-E3DB-6D0B-CAD38DFEFD15}"/>
              </a:ext>
            </a:extLst>
          </p:cNvPr>
          <p:cNvGrpSpPr/>
          <p:nvPr/>
        </p:nvGrpSpPr>
        <p:grpSpPr>
          <a:xfrm>
            <a:off x="10488895" y="-15498"/>
            <a:ext cx="1715960" cy="6858000"/>
            <a:chOff x="-15498" y="-15498"/>
            <a:chExt cx="171596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148D33C-5437-C04B-B623-FE12708355B2}"/>
                </a:ext>
              </a:extLst>
            </p:cNvPr>
            <p:cNvSpPr/>
            <p:nvPr/>
          </p:nvSpPr>
          <p:spPr>
            <a:xfrm>
              <a:off x="-15498" y="-15498"/>
              <a:ext cx="1700463" cy="6858000"/>
            </a:xfrm>
            <a:prstGeom prst="rect">
              <a:avLst/>
            </a:prstGeom>
            <a:solidFill>
              <a:schemeClr val="accent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992A037-3BCA-8093-F037-8A483676A56B}"/>
                </a:ext>
              </a:extLst>
            </p:cNvPr>
            <p:cNvSpPr txBox="1"/>
            <p:nvPr/>
          </p:nvSpPr>
          <p:spPr>
            <a:xfrm>
              <a:off x="-12856" y="143795"/>
              <a:ext cx="16951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Statistics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F373FC1-9FFC-BDC8-0476-F78123D1AAD5}"/>
                </a:ext>
              </a:extLst>
            </p:cNvPr>
            <p:cNvSpPr txBox="1"/>
            <p:nvPr/>
          </p:nvSpPr>
          <p:spPr>
            <a:xfrm>
              <a:off x="0" y="2928240"/>
              <a:ext cx="1700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Data Analysis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A3E67EF-E5F2-42CA-89E1-425DA2409C65}"/>
                </a:ext>
              </a:extLst>
            </p:cNvPr>
            <p:cNvSpPr txBox="1"/>
            <p:nvPr/>
          </p:nvSpPr>
          <p:spPr>
            <a:xfrm>
              <a:off x="96000" y="5856480"/>
              <a:ext cx="1428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Machine Learning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25" name="Plus Sign 24">
            <a:extLst>
              <a:ext uri="{FF2B5EF4-FFF2-40B4-BE49-F238E27FC236}">
                <a16:creationId xmlns:a16="http://schemas.microsoft.com/office/drawing/2014/main" id="{79834481-3246-BB35-24D3-D1B82D9AAB73}"/>
              </a:ext>
            </a:extLst>
          </p:cNvPr>
          <p:cNvSpPr/>
          <p:nvPr/>
        </p:nvSpPr>
        <p:spPr>
          <a:xfrm>
            <a:off x="10957303" y="1146881"/>
            <a:ext cx="788744" cy="1471399"/>
          </a:xfrm>
          <a:prstGeom prst="mathPlus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Plus Sign 26">
            <a:extLst>
              <a:ext uri="{FF2B5EF4-FFF2-40B4-BE49-F238E27FC236}">
                <a16:creationId xmlns:a16="http://schemas.microsoft.com/office/drawing/2014/main" id="{806364FA-430B-9C2F-9695-E439A13C1AAB}"/>
              </a:ext>
            </a:extLst>
          </p:cNvPr>
          <p:cNvSpPr/>
          <p:nvPr/>
        </p:nvSpPr>
        <p:spPr>
          <a:xfrm>
            <a:off x="11013991" y="3952480"/>
            <a:ext cx="788744" cy="1471399"/>
          </a:xfrm>
          <a:prstGeom prst="mathPlus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178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E73E1-2ADC-9232-24DA-22BD0599F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F0B1C9-4B03-CBCD-C4AC-424B40C06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9642" y="113419"/>
            <a:ext cx="8518358" cy="10840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How Does a Data Scientist Work?</a:t>
            </a:r>
            <a:endParaRPr lang="en-IN" sz="4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EB68444-9A47-F34D-FDA3-FD663C91B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9642" y="1357135"/>
            <a:ext cx="7905571" cy="5387445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/>
              <a:t>A Data Scientist must find patterns within the data. Before he/she can find the patterns, he/she must organize the data in a standard format.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6FFB428-9428-F7E6-C242-E0406447283D}"/>
              </a:ext>
            </a:extLst>
          </p:cNvPr>
          <p:cNvGrpSpPr/>
          <p:nvPr/>
        </p:nvGrpSpPr>
        <p:grpSpPr>
          <a:xfrm>
            <a:off x="0" y="0"/>
            <a:ext cx="1700463" cy="6858000"/>
            <a:chOff x="0" y="0"/>
            <a:chExt cx="1700463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AF5DDEA-D6BE-823F-6BBE-1813B8E5964D}"/>
                </a:ext>
              </a:extLst>
            </p:cNvPr>
            <p:cNvSpPr/>
            <p:nvPr/>
          </p:nvSpPr>
          <p:spPr>
            <a:xfrm>
              <a:off x="0" y="0"/>
              <a:ext cx="1700463" cy="6858000"/>
            </a:xfrm>
            <a:prstGeom prst="rect">
              <a:avLst/>
            </a:prstGeom>
            <a:solidFill>
              <a:schemeClr val="accent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A7F1F7D-07D6-8B0E-934F-449E001D34F9}"/>
                </a:ext>
              </a:extLst>
            </p:cNvPr>
            <p:cNvSpPr txBox="1"/>
            <p:nvPr/>
          </p:nvSpPr>
          <p:spPr>
            <a:xfrm>
              <a:off x="18141" y="143795"/>
              <a:ext cx="13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Data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9C4DCD8-1BCA-C6B9-F110-F4763BC81B79}"/>
                </a:ext>
              </a:extLst>
            </p:cNvPr>
            <p:cNvSpPr txBox="1"/>
            <p:nvPr/>
          </p:nvSpPr>
          <p:spPr>
            <a:xfrm>
              <a:off x="30996" y="2044831"/>
              <a:ext cx="142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Information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199EF62-85FF-867E-D607-C6B85682766E}"/>
                </a:ext>
              </a:extLst>
            </p:cNvPr>
            <p:cNvSpPr txBox="1"/>
            <p:nvPr/>
          </p:nvSpPr>
          <p:spPr>
            <a:xfrm>
              <a:off x="65004" y="6212940"/>
              <a:ext cx="142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Decision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8" name="Lightning Bolt 27">
              <a:extLst>
                <a:ext uri="{FF2B5EF4-FFF2-40B4-BE49-F238E27FC236}">
                  <a16:creationId xmlns:a16="http://schemas.microsoft.com/office/drawing/2014/main" id="{D0C538FE-5D19-5384-F207-93DD28436E0E}"/>
                </a:ext>
              </a:extLst>
            </p:cNvPr>
            <p:cNvSpPr/>
            <p:nvPr/>
          </p:nvSpPr>
          <p:spPr>
            <a:xfrm>
              <a:off x="204855" y="740769"/>
              <a:ext cx="818399" cy="1289506"/>
            </a:xfrm>
            <a:prstGeom prst="lightningBol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76446533-5F71-9FB2-D0DF-F0C2A4599EF1}"/>
              </a:ext>
            </a:extLst>
          </p:cNvPr>
          <p:cNvSpPr txBox="1"/>
          <p:nvPr/>
        </p:nvSpPr>
        <p:spPr>
          <a:xfrm>
            <a:off x="10491537" y="143795"/>
            <a:ext cx="13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Data</a:t>
            </a:r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Lightning Bolt 3">
            <a:extLst>
              <a:ext uri="{FF2B5EF4-FFF2-40B4-BE49-F238E27FC236}">
                <a16:creationId xmlns:a16="http://schemas.microsoft.com/office/drawing/2014/main" id="{213133AD-2AF2-4E27-B338-8CCEA8849BA4}"/>
              </a:ext>
            </a:extLst>
          </p:cNvPr>
          <p:cNvSpPr/>
          <p:nvPr/>
        </p:nvSpPr>
        <p:spPr>
          <a:xfrm>
            <a:off x="304800" y="2583699"/>
            <a:ext cx="818399" cy="1289506"/>
          </a:xfrm>
          <a:prstGeom prst="lightningBol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387E71-7A33-7C62-B505-2A036ABBBFB3}"/>
              </a:ext>
            </a:extLst>
          </p:cNvPr>
          <p:cNvSpPr txBox="1"/>
          <p:nvPr/>
        </p:nvSpPr>
        <p:spPr>
          <a:xfrm>
            <a:off x="-5167" y="4051458"/>
            <a:ext cx="14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Insight</a:t>
            </a:r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Lightning Bolt 8">
            <a:extLst>
              <a:ext uri="{FF2B5EF4-FFF2-40B4-BE49-F238E27FC236}">
                <a16:creationId xmlns:a16="http://schemas.microsoft.com/office/drawing/2014/main" id="{C826AD32-B4D5-9BCC-D13B-71CDDCF1132B}"/>
              </a:ext>
            </a:extLst>
          </p:cNvPr>
          <p:cNvSpPr/>
          <p:nvPr/>
        </p:nvSpPr>
        <p:spPr>
          <a:xfrm>
            <a:off x="305166" y="4779126"/>
            <a:ext cx="818399" cy="1289506"/>
          </a:xfrm>
          <a:prstGeom prst="lightningBol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43B3F65-D5F3-7B01-D001-1E3747B9B4EE}"/>
              </a:ext>
            </a:extLst>
          </p:cNvPr>
          <p:cNvGrpSpPr/>
          <p:nvPr/>
        </p:nvGrpSpPr>
        <p:grpSpPr>
          <a:xfrm>
            <a:off x="10488895" y="-15498"/>
            <a:ext cx="1715960" cy="6858000"/>
            <a:chOff x="-15498" y="-15498"/>
            <a:chExt cx="171596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5B2C49-FE58-3890-7DA6-756CE7E2A66D}"/>
                </a:ext>
              </a:extLst>
            </p:cNvPr>
            <p:cNvSpPr/>
            <p:nvPr/>
          </p:nvSpPr>
          <p:spPr>
            <a:xfrm>
              <a:off x="-15498" y="-15498"/>
              <a:ext cx="1700463" cy="6858000"/>
            </a:xfrm>
            <a:prstGeom prst="rect">
              <a:avLst/>
            </a:prstGeom>
            <a:solidFill>
              <a:schemeClr val="accent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AB5293C-B87E-80AF-693F-0FD83801E61E}"/>
                </a:ext>
              </a:extLst>
            </p:cNvPr>
            <p:cNvSpPr txBox="1"/>
            <p:nvPr/>
          </p:nvSpPr>
          <p:spPr>
            <a:xfrm>
              <a:off x="-12856" y="143795"/>
              <a:ext cx="16951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Statistics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1B75187-F39C-D499-E1F0-C36AB5C97A6A}"/>
                </a:ext>
              </a:extLst>
            </p:cNvPr>
            <p:cNvSpPr txBox="1"/>
            <p:nvPr/>
          </p:nvSpPr>
          <p:spPr>
            <a:xfrm>
              <a:off x="0" y="2928240"/>
              <a:ext cx="1700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Data Analysis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FFC9C8-414E-ACB0-0026-DB4B66544AE9}"/>
                </a:ext>
              </a:extLst>
            </p:cNvPr>
            <p:cNvSpPr txBox="1"/>
            <p:nvPr/>
          </p:nvSpPr>
          <p:spPr>
            <a:xfrm>
              <a:off x="96000" y="5856480"/>
              <a:ext cx="1428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Machine Learning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25" name="Plus Sign 24">
            <a:extLst>
              <a:ext uri="{FF2B5EF4-FFF2-40B4-BE49-F238E27FC236}">
                <a16:creationId xmlns:a16="http://schemas.microsoft.com/office/drawing/2014/main" id="{A9667E61-F499-6175-621D-4256DC9818E4}"/>
              </a:ext>
            </a:extLst>
          </p:cNvPr>
          <p:cNvSpPr/>
          <p:nvPr/>
        </p:nvSpPr>
        <p:spPr>
          <a:xfrm>
            <a:off x="10957303" y="1146881"/>
            <a:ext cx="788744" cy="1471399"/>
          </a:xfrm>
          <a:prstGeom prst="mathPlus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Plus Sign 26">
            <a:extLst>
              <a:ext uri="{FF2B5EF4-FFF2-40B4-BE49-F238E27FC236}">
                <a16:creationId xmlns:a16="http://schemas.microsoft.com/office/drawing/2014/main" id="{8A353338-0CB1-BBCE-01BC-D19DCEEDE6ED}"/>
              </a:ext>
            </a:extLst>
          </p:cNvPr>
          <p:cNvSpPr/>
          <p:nvPr/>
        </p:nvSpPr>
        <p:spPr>
          <a:xfrm>
            <a:off x="11013991" y="3952480"/>
            <a:ext cx="788744" cy="1471399"/>
          </a:xfrm>
          <a:prstGeom prst="mathPlus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93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7DCFE-10AA-D431-8F68-6BFD15A6B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A34683-5092-D3E1-244E-44EF64B752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9642" y="113419"/>
            <a:ext cx="8172229" cy="10840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How Does a Data Scientist Work?</a:t>
            </a:r>
            <a:endParaRPr lang="en-IN" sz="4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F4ADFDE-6635-1C23-11B7-00E17F011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9642" y="1357135"/>
            <a:ext cx="7905571" cy="5387445"/>
          </a:xfrm>
        </p:spPr>
        <p:txBody>
          <a:bodyPr>
            <a:normAutofit fontScale="85000" lnSpcReduction="20000"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Here is how a Data Scientist works: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b="1" dirty="0"/>
              <a:t>Ask the right questions</a:t>
            </a:r>
            <a:r>
              <a:rPr lang="en-IN" dirty="0"/>
              <a:t> - To understand the business problem.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b="1" dirty="0"/>
              <a:t>Explore and collect data</a:t>
            </a:r>
            <a:r>
              <a:rPr lang="en-IN" dirty="0"/>
              <a:t> - From database, web logs, customer feedback, etc.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b="1" dirty="0"/>
              <a:t>Extract the data</a:t>
            </a:r>
            <a:r>
              <a:rPr lang="en-IN" dirty="0"/>
              <a:t> - Transform the data to a standardized format.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b="1" dirty="0"/>
              <a:t>Clean the data</a:t>
            </a:r>
            <a:r>
              <a:rPr lang="en-IN" dirty="0"/>
              <a:t> - Remove erroneous values from the data.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b="1" dirty="0"/>
              <a:t>Find and replace missing values</a:t>
            </a:r>
            <a:r>
              <a:rPr lang="en-IN" dirty="0"/>
              <a:t> - Check for missing values and replace them with a suitable value (e.g. an average value).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b="1" dirty="0"/>
              <a:t>Normalize data</a:t>
            </a:r>
            <a:r>
              <a:rPr lang="en-IN" dirty="0"/>
              <a:t> - Scale the values in a practical range (e.g. 140 cm is smaller than 1,8 m. However, the number 140 is larger than 1,8. - so scaling is important).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b="1" dirty="0"/>
              <a:t>Analyze data, find patterns and make future predictions</a:t>
            </a:r>
            <a:r>
              <a:rPr lang="en-IN" dirty="0"/>
              <a:t>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b="1" dirty="0"/>
              <a:t>Represent the result </a:t>
            </a:r>
            <a:r>
              <a:rPr lang="en-IN" dirty="0"/>
              <a:t>- Present the result with useful insights in a way the "company" can understand.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B988FE5-94E5-C4A1-6C86-69E0088CA6D2}"/>
              </a:ext>
            </a:extLst>
          </p:cNvPr>
          <p:cNvGrpSpPr/>
          <p:nvPr/>
        </p:nvGrpSpPr>
        <p:grpSpPr>
          <a:xfrm>
            <a:off x="0" y="0"/>
            <a:ext cx="1700463" cy="6858000"/>
            <a:chOff x="0" y="0"/>
            <a:chExt cx="1700463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AF2BF5C-C5AE-FB92-C31B-BF2F7A2F69CD}"/>
                </a:ext>
              </a:extLst>
            </p:cNvPr>
            <p:cNvSpPr/>
            <p:nvPr/>
          </p:nvSpPr>
          <p:spPr>
            <a:xfrm>
              <a:off x="0" y="0"/>
              <a:ext cx="1700463" cy="6858000"/>
            </a:xfrm>
            <a:prstGeom prst="rect">
              <a:avLst/>
            </a:prstGeom>
            <a:solidFill>
              <a:schemeClr val="accent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AB94AAD-B932-F06E-7F40-07F144F5C85D}"/>
                </a:ext>
              </a:extLst>
            </p:cNvPr>
            <p:cNvSpPr txBox="1"/>
            <p:nvPr/>
          </p:nvSpPr>
          <p:spPr>
            <a:xfrm>
              <a:off x="18141" y="143795"/>
              <a:ext cx="133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Data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E020C21-000D-7946-1273-C38221B8E6CE}"/>
                </a:ext>
              </a:extLst>
            </p:cNvPr>
            <p:cNvSpPr txBox="1"/>
            <p:nvPr/>
          </p:nvSpPr>
          <p:spPr>
            <a:xfrm>
              <a:off x="30996" y="2044831"/>
              <a:ext cx="142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Information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1D2ED0D-3F8B-E6C3-9443-BB7462B235A0}"/>
                </a:ext>
              </a:extLst>
            </p:cNvPr>
            <p:cNvSpPr txBox="1"/>
            <p:nvPr/>
          </p:nvSpPr>
          <p:spPr>
            <a:xfrm>
              <a:off x="65004" y="6212940"/>
              <a:ext cx="142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Decision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8" name="Lightning Bolt 27">
              <a:extLst>
                <a:ext uri="{FF2B5EF4-FFF2-40B4-BE49-F238E27FC236}">
                  <a16:creationId xmlns:a16="http://schemas.microsoft.com/office/drawing/2014/main" id="{BE0C87AA-0237-0E19-C701-1D546A71B637}"/>
                </a:ext>
              </a:extLst>
            </p:cNvPr>
            <p:cNvSpPr/>
            <p:nvPr/>
          </p:nvSpPr>
          <p:spPr>
            <a:xfrm>
              <a:off x="204855" y="740769"/>
              <a:ext cx="818399" cy="1289506"/>
            </a:xfrm>
            <a:prstGeom prst="lightningBol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4A0F5869-FC1E-7898-9682-F5AC98E93359}"/>
              </a:ext>
            </a:extLst>
          </p:cNvPr>
          <p:cNvSpPr txBox="1"/>
          <p:nvPr/>
        </p:nvSpPr>
        <p:spPr>
          <a:xfrm>
            <a:off x="10491537" y="143795"/>
            <a:ext cx="13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Data</a:t>
            </a:r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Lightning Bolt 3">
            <a:extLst>
              <a:ext uri="{FF2B5EF4-FFF2-40B4-BE49-F238E27FC236}">
                <a16:creationId xmlns:a16="http://schemas.microsoft.com/office/drawing/2014/main" id="{7CED25D8-848C-29CE-16D7-6AB5CA1C09BC}"/>
              </a:ext>
            </a:extLst>
          </p:cNvPr>
          <p:cNvSpPr/>
          <p:nvPr/>
        </p:nvSpPr>
        <p:spPr>
          <a:xfrm>
            <a:off x="304800" y="2583699"/>
            <a:ext cx="818399" cy="1289506"/>
          </a:xfrm>
          <a:prstGeom prst="lightningBol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4638C2-C345-85C8-905C-2B9D38812154}"/>
              </a:ext>
            </a:extLst>
          </p:cNvPr>
          <p:cNvSpPr txBox="1"/>
          <p:nvPr/>
        </p:nvSpPr>
        <p:spPr>
          <a:xfrm>
            <a:off x="-5167" y="4051458"/>
            <a:ext cx="14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Insight</a:t>
            </a:r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Lightning Bolt 8">
            <a:extLst>
              <a:ext uri="{FF2B5EF4-FFF2-40B4-BE49-F238E27FC236}">
                <a16:creationId xmlns:a16="http://schemas.microsoft.com/office/drawing/2014/main" id="{46412F23-1294-C569-AAB3-7156B76C7C74}"/>
              </a:ext>
            </a:extLst>
          </p:cNvPr>
          <p:cNvSpPr/>
          <p:nvPr/>
        </p:nvSpPr>
        <p:spPr>
          <a:xfrm>
            <a:off x="305166" y="4779126"/>
            <a:ext cx="818399" cy="1289506"/>
          </a:xfrm>
          <a:prstGeom prst="lightningBol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40BCDF9-7522-B87F-992F-BA00834E6540}"/>
              </a:ext>
            </a:extLst>
          </p:cNvPr>
          <p:cNvGrpSpPr/>
          <p:nvPr/>
        </p:nvGrpSpPr>
        <p:grpSpPr>
          <a:xfrm>
            <a:off x="10488895" y="-15498"/>
            <a:ext cx="1715960" cy="6858000"/>
            <a:chOff x="-15498" y="-15498"/>
            <a:chExt cx="171596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17461F9-8505-FB56-F395-4A446E4496F0}"/>
                </a:ext>
              </a:extLst>
            </p:cNvPr>
            <p:cNvSpPr/>
            <p:nvPr/>
          </p:nvSpPr>
          <p:spPr>
            <a:xfrm>
              <a:off x="-15498" y="-15498"/>
              <a:ext cx="1700463" cy="6858000"/>
            </a:xfrm>
            <a:prstGeom prst="rect">
              <a:avLst/>
            </a:prstGeom>
            <a:solidFill>
              <a:schemeClr val="accent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B65E993-6B1E-A8A2-E00D-68B51C678EDE}"/>
                </a:ext>
              </a:extLst>
            </p:cNvPr>
            <p:cNvSpPr txBox="1"/>
            <p:nvPr/>
          </p:nvSpPr>
          <p:spPr>
            <a:xfrm>
              <a:off x="-12856" y="143795"/>
              <a:ext cx="16951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Statistics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21637C0-DE4D-ED1B-0856-072209861807}"/>
                </a:ext>
              </a:extLst>
            </p:cNvPr>
            <p:cNvSpPr txBox="1"/>
            <p:nvPr/>
          </p:nvSpPr>
          <p:spPr>
            <a:xfrm>
              <a:off x="0" y="2928240"/>
              <a:ext cx="1700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Data Analysis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59AEF12-7DBF-94E5-8093-E6BA8AF51224}"/>
                </a:ext>
              </a:extLst>
            </p:cNvPr>
            <p:cNvSpPr txBox="1"/>
            <p:nvPr/>
          </p:nvSpPr>
          <p:spPr>
            <a:xfrm>
              <a:off x="96000" y="5856480"/>
              <a:ext cx="1428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95000"/>
                    </a:schemeClr>
                  </a:solidFill>
                </a:rPr>
                <a:t>Machine Learning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25" name="Plus Sign 24">
            <a:extLst>
              <a:ext uri="{FF2B5EF4-FFF2-40B4-BE49-F238E27FC236}">
                <a16:creationId xmlns:a16="http://schemas.microsoft.com/office/drawing/2014/main" id="{E11FCC2B-7E8A-300A-14D3-23CD1180140E}"/>
              </a:ext>
            </a:extLst>
          </p:cNvPr>
          <p:cNvSpPr/>
          <p:nvPr/>
        </p:nvSpPr>
        <p:spPr>
          <a:xfrm>
            <a:off x="10957303" y="1146881"/>
            <a:ext cx="788744" cy="1471399"/>
          </a:xfrm>
          <a:prstGeom prst="mathPlus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Plus Sign 26">
            <a:extLst>
              <a:ext uri="{FF2B5EF4-FFF2-40B4-BE49-F238E27FC236}">
                <a16:creationId xmlns:a16="http://schemas.microsoft.com/office/drawing/2014/main" id="{4EBF0818-7D89-F6F1-F739-0DE99B5F4670}"/>
              </a:ext>
            </a:extLst>
          </p:cNvPr>
          <p:cNvSpPr/>
          <p:nvPr/>
        </p:nvSpPr>
        <p:spPr>
          <a:xfrm>
            <a:off x="11013991" y="3952480"/>
            <a:ext cx="788744" cy="1471399"/>
          </a:xfrm>
          <a:prstGeom prst="mathPlus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398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A5B7E-3A24-3DAD-DBBD-53E0FC1A8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08FD70-C80B-5028-1919-3556DD00D6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737" y="0"/>
            <a:ext cx="8101263" cy="20453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75F4A0-CCB6-8087-A9C1-F6C51F67CB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090737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C49C5C9-1429-7B28-FB39-2FD78F8E9515}"/>
              </a:ext>
            </a:extLst>
          </p:cNvPr>
          <p:cNvSpPr/>
          <p:nvPr/>
        </p:nvSpPr>
        <p:spPr>
          <a:xfrm>
            <a:off x="6419713" y="3726752"/>
            <a:ext cx="409073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74367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185</TotalTime>
  <Words>795</Words>
  <Application>Microsoft Office PowerPoint</Application>
  <PresentationFormat>Widescreen</PresentationFormat>
  <Paragraphs>153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Wingdings</vt:lpstr>
      <vt:lpstr>Office Theme</vt:lpstr>
      <vt:lpstr>Data Science</vt:lpstr>
      <vt:lpstr>List of contents</vt:lpstr>
      <vt:lpstr>Data Overview</vt:lpstr>
      <vt:lpstr>What is Data?</vt:lpstr>
      <vt:lpstr>How Data is Used?</vt:lpstr>
      <vt:lpstr>Data Science Overview</vt:lpstr>
      <vt:lpstr>What is Data Science?</vt:lpstr>
      <vt:lpstr>Where is Data Science needed?</vt:lpstr>
      <vt:lpstr>Where is Data Science needed?</vt:lpstr>
      <vt:lpstr>How Does a Data Scientist Work?</vt:lpstr>
      <vt:lpstr>How Does a Data Scientist Work?</vt:lpstr>
      <vt:lpstr>How Does a Data Scientist Work?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Amarja Sanjekar</dc:creator>
  <cp:lastModifiedBy>Amarja Sanjekar</cp:lastModifiedBy>
  <cp:revision>23</cp:revision>
  <dcterms:created xsi:type="dcterms:W3CDTF">2026-10-06T18:28:58Z</dcterms:created>
  <dcterms:modified xsi:type="dcterms:W3CDTF">2026-10-07T08:53:41Z</dcterms:modified>
</cp:coreProperties>
</file>